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Motor de Decisión Crediticia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B"/>
                </a:solidFill>
              </a:rPr>
              <a:t>Análisis de 14 casos reales · Buró de Crédito + Modelo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SOFIPO · Marzo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2560320" cy="502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APROBADO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291840"/>
            <a:ext cx="2560320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3337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VALIDACION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2560320" cy="5029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3337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ESCALAR_EJECUTIVO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3291840"/>
            <a:ext cx="2560320" cy="502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337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RECHAZADO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Sistema multi-agente de análisis crediticio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148840" cy="2560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🪪 KYC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Verifica identidad biométrica:
reconocimiento facial, INE,
validación de vida y gobierno.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097280"/>
            <a:ext cx="2148840" cy="2560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188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💰 Financiero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17373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Calcula capacidad de pago:
ingresos − egresos − pago buró.
Ajusta monto si es necesario.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4" y="1097280"/>
            <a:ext cx="2148840" cy="25603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1188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📋 Buró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17373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Evalúa score BC, ICC,
alertas HAWK, cuentas vencidas
y expediente delgado.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1776" y="1097280"/>
            <a:ext cx="2148840" cy="2560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6" y="1188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🤖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17373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Decil predictivo 1-10
basado en comportamiento
histórico 2024-2025.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10928" y="1097280"/>
            <a:ext cx="2148840" cy="2560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8" y="1188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⚖️ 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17373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Combina los 4 agentes
y emite: APROBADO, VALIDACION,
ESCALAR o RECHAZADO.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86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Reglas clave del motor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Umbral capacidad de pago: 35% del ingreso neto (40% si BC ≥ 630 + ICC ≥ 5 + sin vencidos)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4515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Thin file: ≤ 4 cuentas totales y ≤ 1 abierta → VALIDACION automática, sin importar el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92624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Pago a realizar del buró se descuenta del ingreso neto antes de calcular capacidad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00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Score BC &lt; 500 o juicios activos → RECHAZADO automático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✔  APROBADO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Proceder con el desembolso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 caso(s) en esta categoría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035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</a:rPr>
              <a:t>Pasos a seguir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Verificar expediente físico completo: INE, comprobante domicilio, estados de cuenta.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Sin revisión adicional requerida por parte de mesa de crédito.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Documentar condiciones finales autorizadas (monto, tasa, plazo, cuota).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Gestionar firma del contrato y desembolso en el plazo establecido.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</a:rPr>
              <a:t>Solicitudes en esta decisión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577840" cy="658368"/>
          </a:xfrm>
          <a:prstGeom prst="rect">
            <a:avLst/>
          </a:prstGeom>
          <a:solidFill>
            <a:srgbClr val="F3FFF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02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#47182039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0025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A853"/>
                </a:solidFill>
              </a:rPr>
              <a:t>✓ Pagó bien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134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666 · ICC 0006 · Decil 6 · Neto $28,000 · MaxAtr 6d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15768"/>
            <a:ext cx="5577840" cy="658368"/>
          </a:xfrm>
          <a:prstGeom prst="rect">
            <a:avLst/>
          </a:prstGeom>
          <a:solidFill>
            <a:srgbClr val="F3FFF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52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#47148013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7523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A853"/>
                </a:solidFill>
              </a:rPr>
              <a:t>✓ Pagó bien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603 · ICC 0006 · Decil 6 · Neto $8,000 · MaxAtr 0d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⚑  VALIDACION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Enviar a mesa de crédito para revisión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 caso(s) en esta categoría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035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Pasos a seguir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Pausar el desembolso hasta obtener resolución de mesa.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Causas frecuentes: expediente delgado (≤4 cuentas), buró sin historial registrado, perfil ambiguo.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Mesa puede aprobar, rechazar, o solicitar documentación adicional: aval, garantía, comprobante de ingreso extra.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Plazo máximo de resolución: 48 horas hábiles.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Solicitudes en esta decisión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577840" cy="658368"/>
          </a:xfrm>
          <a:prstGeom prst="rect">
            <a:avLst/>
          </a:prstGeom>
          <a:solidFill>
            <a:srgbClr val="F3FFF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02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#47156427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0025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A853"/>
                </a:solidFill>
              </a:rPr>
              <a:t>✓ Pagó bien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134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637 · ICC 0005 · Decil 3 · Neto $44,800 · MaxAtr 3d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15768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52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#47178641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7523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656 · ICC 0007 · Decil 5 · Neto $23,700 · MaxAtr 60d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465575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#47161577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5021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130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611 · ICC 0004 · Decil 6 · Neto $25,300 · MaxAtr 76d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215383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2519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#47205357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25195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6285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644 · ICC 0006 · Decil 5 · Neto $27,600 · MaxAtr 47d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965192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001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#47192279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001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3126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586 · ICC 0005 · Decil 4 · Neto $5,080 · MaxAtr 73d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715000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751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#47184400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5751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60624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702 · ICC 0009 · Decil 6 · Neto $37,100 · MaxAtr 40d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6464808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6501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#47181090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65013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68122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652 · ICC 0004 · Decil 4 · Neto $27,600 · MaxAtr 71d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7214616"/>
            <a:ext cx="5577840" cy="658368"/>
          </a:xfrm>
          <a:prstGeom prst="rect">
            <a:avLst/>
          </a:prstGeom>
          <a:solidFill>
            <a:srgbClr val="F3FFF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7251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#47164427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72511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A853"/>
                </a:solidFill>
              </a:rPr>
              <a:t>✓ Pagó bien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75620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628 · ICC 0002 · Decil 3 · Neto $25,450 · MaxAtr 0d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▲  ESCALAR_EJECUTIVO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Revisar con el ejecutivo de cuenta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 caso(s) en esta categoría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035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</a:rPr>
              <a:t>Pasos a seguir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Capacidad de pago comprometida pero no bloqueante; requiere juicio cualitativo.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El ejecutivo puede renegociar monto, plazo o frecuencia con el cliente.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Evaluar garantías adicionales o aval si el ajuste no es suficiente.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Documentar la justificación de la decisión final en el expediente.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</a:rPr>
              <a:t>Solicitudes en esta decisión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577840" cy="658368"/>
          </a:xfrm>
          <a:prstGeom prst="rect">
            <a:avLst/>
          </a:prstGeom>
          <a:solidFill>
            <a:srgbClr val="F3FFF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02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#47129675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0025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A853"/>
                </a:solidFill>
              </a:rPr>
              <a:t>✓ Pagó bien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134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661 · ICC 0006 · Decil 6 · Neto $10,000 · MaxAtr 0d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✗  RECHAZADO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Comunicar rechazo al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 caso(s) en esta categoría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035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4335"/>
                </a:solidFill>
              </a:rPr>
              <a:t>Pasos a seguir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Score &lt; 500 o historial severo: informar que el historial crediticio impide la aprobación actual.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Capacidad negativa (egresos &gt; ingresos): invitar a volver cuando la situación financiera mejore.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No desembolsar bajo ninguna circunstancia sin nueva evaluación.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33333"/>
                </a:solidFill>
              </a:rPr>
              <a:t>• Registrar motivo en expediente y archivar la solicitud.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4335"/>
                </a:solidFill>
              </a:rPr>
              <a:t>Solicitudes en esta decisión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02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#47193179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0025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134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536 · ICC 0003 · Decil 5 · Neto $4,722 · MaxAtr 79d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15768"/>
            <a:ext cx="5577840" cy="658368"/>
          </a:xfrm>
          <a:prstGeom prst="rect">
            <a:avLst/>
          </a:prstGeom>
          <a:solidFill>
            <a:srgbClr val="F3FFF6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52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#47179512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7523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A853"/>
                </a:solidFill>
              </a:rPr>
              <a:t>✓ Pagó bien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674 · ICC 0007 · Decil 7 · Neto $-2,400 · MaxAtr 1d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465575"/>
            <a:ext cx="5577840" cy="658368"/>
          </a:xfrm>
          <a:prstGeom prst="rect">
            <a:avLst/>
          </a:prstGeom>
          <a:solidFill>
            <a:srgbClr val="FFF3F3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5021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#47185687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5021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4335"/>
                </a:solidFill>
              </a:rPr>
              <a:t>⚠ Pagó 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130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BC 589 · ICC 0004 · Decil 3 · Neto $30,500 · MaxAtr 53d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Cuadro Resumen — 14 Casos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EFB"/>
                </a:solidFill>
              </a:rPr>
              <a:t>Resultado del motor vs comportamiento histórico real (MaxAtr_ventana)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868680"/>
            <a:ext cx="105156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914400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Solicitud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6151" y="868680"/>
            <a:ext cx="68580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91440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BC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1952" y="868680"/>
            <a:ext cx="50292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8" y="914400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4872" y="868680"/>
            <a:ext cx="54864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91440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Decil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3512" y="868680"/>
            <a:ext cx="10972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914400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Ing. Neto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0791" y="868680"/>
            <a:ext cx="105156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914400"/>
            <a:ext cx="978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Pago Buró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868680"/>
            <a:ext cx="96012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91440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</a:rPr>
              <a:t>Monto Sol.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868680"/>
            <a:ext cx="150876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914400"/>
            <a:ext cx="1435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Decisión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1231" y="868680"/>
            <a:ext cx="59436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7" y="914400"/>
            <a:ext cx="521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65592" y="868680"/>
            <a:ext cx="73152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7" y="9144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MaxAtr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7112" y="868680"/>
            <a:ext cx="114300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914400"/>
            <a:ext cx="1069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Veredicto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123444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128930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47182039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6151" y="123444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128930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666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1952" y="123444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38528" y="128930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04872" y="1234440"/>
            <a:ext cx="548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128930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53512" y="1234440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0088" y="128930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$28,000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50791" y="123444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87368" y="128930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$251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02352" y="1234440"/>
            <a:ext cx="960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38928" y="128930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$10,744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2472" y="1234440"/>
            <a:ext cx="1508760" cy="347472"/>
          </a:xfrm>
          <a:prstGeom prst="rect">
            <a:avLst/>
          </a:prstGeom>
          <a:solidFill>
            <a:srgbClr val="CDDED1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8" y="128930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34A853"/>
                </a:solidFill>
              </a:rPr>
              <a:t>APROBADO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71231" y="1234440"/>
            <a:ext cx="594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07807" y="128930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8/10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65592" y="1234440"/>
            <a:ext cx="731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02167" y="128930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97112" y="1234440"/>
            <a:ext cx="1143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33688" y="128930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160020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" y="165506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47156427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16151" y="1600200"/>
            <a:ext cx="6858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52728" y="165506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637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01952" y="1600200"/>
            <a:ext cx="5029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38528" y="165506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04872" y="1600200"/>
            <a:ext cx="54864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41448" y="165506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53512" y="1600200"/>
            <a:ext cx="109728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90088" y="165506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$44,800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50791" y="160020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87368" y="165506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$21,542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02352" y="1600200"/>
            <a:ext cx="9601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38928" y="165506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$5,700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62472" y="160020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99048" y="165506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71231" y="1600200"/>
            <a:ext cx="5943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07807" y="165506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6/10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65592" y="1600200"/>
            <a:ext cx="7315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02167" y="165506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3d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97112" y="1600200"/>
            <a:ext cx="11430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33688" y="165506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 — buró sin cuentas, pago buró muy alto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4592" y="196596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1168" y="202082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47178641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16151" y="196596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52728" y="202082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656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01952" y="196596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38528" y="202082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04872" y="1965960"/>
            <a:ext cx="548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41448" y="202082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53512" y="1965960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0088" y="202082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$23,700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50791" y="196596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87368" y="202082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02352" y="1965960"/>
            <a:ext cx="960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38928" y="202082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$5,744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62472" y="196596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99048" y="202082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71231" y="1965960"/>
            <a:ext cx="594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07807" y="202082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8/10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65592" y="196596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02167" y="202082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60d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97112" y="196596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33688" y="202082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 — buró incompleto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4592" y="233172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1168" y="238658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47161577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216151" y="2331720"/>
            <a:ext cx="6858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52728" y="238658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611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01952" y="2331720"/>
            <a:ext cx="5029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938528" y="238658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04872" y="2331720"/>
            <a:ext cx="54864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41448" y="238658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53512" y="2331720"/>
            <a:ext cx="109728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990088" y="238658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$25,300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50791" y="233172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087368" y="238658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$10,192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102352" y="2331720"/>
            <a:ext cx="9601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38928" y="238658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$12,350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62472" y="233172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099048" y="238658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71231" y="2331720"/>
            <a:ext cx="5943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07807" y="238658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5/10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65592" y="233172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02167" y="238658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76d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97112" y="233172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33688" y="238658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 — alto pago buró, score bajo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64592" y="269748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01168" y="275234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47193179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16151" y="269748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52728" y="275234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536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901952" y="269748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938528" y="275234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404872" y="2697480"/>
            <a:ext cx="548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441448" y="275234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953512" y="2697480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990088" y="275234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$4,722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050791" y="269748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087368" y="275234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$89,477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102352" y="2697480"/>
            <a:ext cx="960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138928" y="275234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$8,350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062472" y="2697480"/>
            <a:ext cx="1508760" cy="347472"/>
          </a:xfrm>
          <a:prstGeom prst="rect">
            <a:avLst/>
          </a:prstGeom>
          <a:solidFill>
            <a:srgbClr val="E8CFCD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099048" y="275234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EA4335"/>
                </a:solidFill>
              </a:rPr>
              <a:t>RECHAZADO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571231" y="2697480"/>
            <a:ext cx="594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07807" y="275234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3/10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65592" y="269748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202167" y="275234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79d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97112" y="269748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33688" y="275234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" y="306324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01168" y="311810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47205357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16151" y="3063240"/>
            <a:ext cx="6858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52728" y="311810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644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01952" y="3063240"/>
            <a:ext cx="5029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938528" y="311810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404872" y="3063240"/>
            <a:ext cx="54864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441448" y="311810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953512" y="3063240"/>
            <a:ext cx="109728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990088" y="311810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$27,600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050791" y="306324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087368" y="311810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102352" y="3063240"/>
            <a:ext cx="9601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138928" y="311810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$28,636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062472" y="306324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099048" y="311810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571231" y="3063240"/>
            <a:ext cx="5943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607807" y="311810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8/10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165592" y="306324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202167" y="311810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47d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97112" y="306324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933688" y="311810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 — monto alto, decil 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64592" y="342900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01168" y="348386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47179512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216151" y="342900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252728" y="348386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674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901952" y="342900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938528" y="348386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0007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404872" y="3429000"/>
            <a:ext cx="548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441448" y="348386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7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953512" y="3429000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990088" y="348386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$-2,400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050791" y="342900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087368" y="348386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$1,568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102352" y="3429000"/>
            <a:ext cx="960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138928" y="348386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$4,350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062472" y="3429000"/>
            <a:ext cx="1508760" cy="347472"/>
          </a:xfrm>
          <a:prstGeom prst="rect">
            <a:avLst/>
          </a:prstGeom>
          <a:solidFill>
            <a:srgbClr val="E8CFCD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099048" y="348386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EA4335"/>
                </a:solidFill>
              </a:rPr>
              <a:t>RECHAZADO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571231" y="3429000"/>
            <a:ext cx="594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607807" y="348386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4/10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165592" y="3429000"/>
            <a:ext cx="731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02167" y="348386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1d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897112" y="3429000"/>
            <a:ext cx="1143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933688" y="348386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Falso negativo — egresos &gt; ingresos declarados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64592" y="379476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01168" y="384962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47192279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216151" y="3794760"/>
            <a:ext cx="6858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252728" y="384962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586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901952" y="3794760"/>
            <a:ext cx="5029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938528" y="384962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0005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404872" y="3794760"/>
            <a:ext cx="54864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441448" y="384962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953512" y="3794760"/>
            <a:ext cx="109728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990088" y="384962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$5,080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050791" y="379476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087368" y="384962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$913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102352" y="3794760"/>
            <a:ext cx="9601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138928" y="384962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$4,350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062472" y="379476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099048" y="384962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571231" y="3794760"/>
            <a:ext cx="5943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607807" y="384962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5/10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165592" y="379476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202167" y="384962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73d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897112" y="379476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933688" y="384962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64592" y="416052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01168" y="421538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47129675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216151" y="416052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252728" y="421538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661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901952" y="416052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938528" y="421538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0006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404872" y="4160520"/>
            <a:ext cx="548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441448" y="421538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953512" y="4160520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990088" y="421538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$10,000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050791" y="416052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087368" y="421538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$6,069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102352" y="4160520"/>
            <a:ext cx="960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5138928" y="421538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$5,350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62472" y="4160520"/>
            <a:ext cx="1508760" cy="347472"/>
          </a:xfrm>
          <a:prstGeom prst="rect">
            <a:avLst/>
          </a:prstGeom>
          <a:solidFill>
            <a:srgbClr val="EAE1C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6099048" y="421538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FBBC04"/>
                </a:solidFill>
              </a:rPr>
              <a:t>ESCALAR_EJECUTIVO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571231" y="4160520"/>
            <a:ext cx="594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607807" y="421538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5/10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165592" y="4160520"/>
            <a:ext cx="731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202167" y="421538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0d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897112" y="4160520"/>
            <a:ext cx="1143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933688" y="421538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 — pago buró = 60% ingreso neto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64592" y="452628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01168" y="458114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47184400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216151" y="4526280"/>
            <a:ext cx="6858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252728" y="458114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702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901952" y="4526280"/>
            <a:ext cx="5029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938528" y="458114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0009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2404872" y="4526280"/>
            <a:ext cx="54864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441448" y="458114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953512" y="4526280"/>
            <a:ext cx="109728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990088" y="458114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$37,100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050791" y="452628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087368" y="458114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$1,083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102352" y="4526280"/>
            <a:ext cx="9601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138928" y="458114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$10,344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062472" y="452628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099048" y="458114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571231" y="4526280"/>
            <a:ext cx="5943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607807" y="458114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9/10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165592" y="452628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202167" y="458114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40d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897112" y="452628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933688" y="458114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 — regla thin file (3 cuentas, 1 abierta)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64592" y="489204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1168" y="4946903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47181090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1216151" y="489204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252728" y="4946903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652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901952" y="489204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938528" y="4946903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0004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2404872" y="4892040"/>
            <a:ext cx="548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441448" y="4946903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953512" y="4892040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990088" y="4946903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$27,600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4050791" y="489204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4087368" y="4946903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$2,970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102352" y="4892040"/>
            <a:ext cx="960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138928" y="4946903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$15,351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6062472" y="489204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099048" y="4946903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571231" y="4892040"/>
            <a:ext cx="594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607807" y="4946903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8/10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8165592" y="489204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202167" y="4946903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71d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897112" y="489204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933688" y="4946903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64592" y="525780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201168" y="531266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47185687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216151" y="5257800"/>
            <a:ext cx="6858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252728" y="531266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589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901952" y="5257800"/>
            <a:ext cx="5029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938528" y="531266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0004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2404872" y="5257800"/>
            <a:ext cx="54864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2441448" y="531266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5257800"/>
            <a:ext cx="109728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2990088" y="531266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$30,500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050791" y="525780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4087368" y="531266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$4,804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102352" y="5257800"/>
            <a:ext cx="9601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138928" y="531266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$10,350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6062472" y="5257800"/>
            <a:ext cx="1508760" cy="347472"/>
          </a:xfrm>
          <a:prstGeom prst="rect">
            <a:avLst/>
          </a:prstGeom>
          <a:solidFill>
            <a:srgbClr val="E8CFCD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099048" y="531266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EA4335"/>
                </a:solidFill>
              </a:rPr>
              <a:t>RECHAZADO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7571231" y="5257800"/>
            <a:ext cx="5943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7607807" y="531266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5/10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8165592" y="5257800"/>
            <a:ext cx="73152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8202167" y="531266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A4335"/>
                </a:solidFill>
              </a:rPr>
              <a:t>53d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8897112" y="5257800"/>
            <a:ext cx="1143000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933688" y="531266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 — decil 3, score bajo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64592" y="562356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201168" y="567842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47164427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1216151" y="562356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252728" y="567842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628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901952" y="562356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938528" y="567842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0002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404872" y="5623560"/>
            <a:ext cx="548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2441448" y="567842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953512" y="5623560"/>
            <a:ext cx="1097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990088" y="567842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$25,450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4050791" y="5623560"/>
            <a:ext cx="1051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4087368" y="567842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$6,226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102352" y="5623560"/>
            <a:ext cx="960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5138928" y="567842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$6,600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6062472" y="5623560"/>
            <a:ext cx="1508760" cy="347472"/>
          </a:xfrm>
          <a:prstGeom prst="rect">
            <a:avLst/>
          </a:prstGeom>
          <a:solidFill>
            <a:srgbClr val="C9D6E8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6099048" y="567842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1A73E8"/>
                </a:solidFill>
              </a:rPr>
              <a:t>VALIDACION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571231" y="5623560"/>
            <a:ext cx="594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7607807" y="567842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6/10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165592" y="5623560"/>
            <a:ext cx="731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8202167" y="567842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0d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897112" y="5623560"/>
            <a:ext cx="1143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8933688" y="567842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Conservador — pagó bien, decil 3 e ICC bajo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64592" y="598932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201168" y="604418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333333"/>
                </a:solidFill>
              </a:rPr>
              <a:t>47148013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216151" y="5989320"/>
            <a:ext cx="6858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252728" y="6044184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603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901952" y="5989320"/>
            <a:ext cx="5029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1938528" y="604418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0006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2404872" y="5989320"/>
            <a:ext cx="54864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2441448" y="604418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953512" y="5989320"/>
            <a:ext cx="109728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2990088" y="6044184"/>
            <a:ext cx="1024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$8,000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050791" y="5989320"/>
            <a:ext cx="10515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4087368" y="6044184"/>
            <a:ext cx="978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$1,882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102352" y="5989320"/>
            <a:ext cx="9601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5138928" y="6044184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80" b="0" i="0">
                <a:solidFill>
                  <a:srgbClr val="333333"/>
                </a:solidFill>
              </a:rPr>
              <a:t>$5,350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6062472" y="5989320"/>
            <a:ext cx="1508760" cy="347472"/>
          </a:xfrm>
          <a:prstGeom prst="rect">
            <a:avLst/>
          </a:prstGeom>
          <a:solidFill>
            <a:srgbClr val="CDDED1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6099048" y="6044184"/>
            <a:ext cx="14356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34A853"/>
                </a:solidFill>
              </a:rPr>
              <a:t>APROBADO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571231" y="5989320"/>
            <a:ext cx="59436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607807" y="6044184"/>
            <a:ext cx="521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7/10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8165592" y="5989320"/>
            <a:ext cx="73152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8202167" y="604418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333333"/>
                </a:solidFill>
              </a:rPr>
              <a:t>0d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897112" y="5989320"/>
            <a:ext cx="1143000" cy="347472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8933688" y="6044184"/>
            <a:ext cx="1069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333333"/>
                </a:solidFill>
              </a:rPr>
              <a:t>Correcto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Conclusiones y Efectividad del Motor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60604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Casos evaluados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960120"/>
            <a:ext cx="2606040" cy="1280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515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13/14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19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Decisiones correctas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60120"/>
            <a:ext cx="2606040" cy="1280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19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Efectividad global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960120"/>
            <a:ext cx="2606040" cy="12801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0515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190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Falso negativo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Distribución de decisiones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718457" cy="3108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5657" y="28712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A853"/>
                </a:solidFill>
              </a:rPr>
              <a:t>APROBADO  (2)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3233057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0257" y="33284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3E8"/>
                </a:solidFill>
              </a:rPr>
              <a:t>VALIDACION  (9)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359228" cy="3108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428" y="378561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C04"/>
                </a:solidFill>
              </a:rPr>
              <a:t>ESCALAR_EJECUTIVO  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06240"/>
            <a:ext cx="1077685" cy="3108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34885" y="4242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4335"/>
                </a:solidFill>
              </a:rPr>
              <a:t>RECHAZADO  (3)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4688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Hallazgos principales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8803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9 VALIDACIONES: buró sin cuentas o expediente delgado — el motor es conservador en perfiles sin historial.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3375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Regla thin file capturó a 47184400 (score 9/10 pero llegó a 40 días de atraso).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947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Único falso negativo (47179512): egresos declarados &gt; ingresos. Cliente pagó bien. Posible sub-declaración de ingresos.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2519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47156427: pago buró $21,542 sobre ingreso neto $44,800 → 48% comprometido. VALIDACION correcta aunque pagó bien.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7091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3 RECHAZADOS coincidieron perfectamente con clientes de 53-79 días de atraso.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937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Próximos pasos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1. Ajustar umbral de ingresos en RECHAZADO: añadir flag "posible sub-declaración" si BC &gt; 650 + MaxAtr histórico bajo.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875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2. Seguimiento de los 9 casos en VALIDACION: documentar resolución de mesa para re-entrenar el modelo.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716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3. Ampliar muestra de evaluación a 50+ casos para validar estadísticamente las reglas thin file y umbral 40%.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